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JackFruit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CT-Based COVID-19 Diagnosis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i="1" dirty="0">
                <a:solidFill>
                  <a:srgbClr val="63B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278892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supervised ML pipeline classifying COVID-19 anomalies from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high-dimensional CT scan radiomics — without deep learning.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1828800" cy="411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60120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9601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23444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statement, motivation, and dataset overview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709928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14400" y="17099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Architecture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98424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 pipeline steps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2459736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914400" y="245973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&amp; Models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734056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PyRadiomics, LDA, SVM, Decision Tree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" y="3209544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914400" y="320954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483864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AUC, holdout metrics, classification report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3959352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914400" y="39593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423367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 cases and best-fit deployment scenarios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48874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CT-Based COVID-19 Diagnosis — ML Project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0" y="48874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4869180"/>
            <a:ext cx="841248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3B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22860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— Problem &amp; Motivation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828800" cy="411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686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16128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diagnosis from CT scans typically relies on deep learning (CNNs), which demand large annotated datasets and significant compute. This project demonstrates that classical ML — using quantitative radiomics features — can achieve competitive diagnostic performance without any neural network, staying within standard course syllabus techniques.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2743200" cy="1463040"/>
          </a:xfrm>
          <a:prstGeom prst="rect">
            <a:avLst/>
          </a:prstGeom>
          <a:solidFill>
            <a:srgbClr val="F0F4F8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99339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746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65760" y="26517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Scans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9260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349 COVID · 397 Non-COVID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920240"/>
            <a:ext cx="2743200" cy="1463040"/>
          </a:xfrm>
          <a:prstGeom prst="rect">
            <a:avLst/>
          </a:prstGeom>
          <a:solidFill>
            <a:srgbClr val="F0F4F8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99339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3291840" y="26517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/ Image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29260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radiomic feature families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920240"/>
            <a:ext cx="2743200" cy="1463040"/>
          </a:xfrm>
          <a:prstGeom prst="rect">
            <a:avLst/>
          </a:prstGeom>
          <a:solidFill>
            <a:srgbClr val="F0F4F8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99339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6217920" y="26517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Component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29260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Compresses 88D → 1D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354787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Preprocessing: RGB images converted to grayscale via Pillow convert('L')  ·  80/20 stratified train-test split  ·  596 training · 150 holdout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48874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CT-Based COVID-19 Diagnosis — ML Project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0" y="48874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4869180"/>
            <a:ext cx="841248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3B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22860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828800" cy="411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96112"/>
            <a:ext cx="420624" cy="420624"/>
          </a:xfrm>
          <a:prstGeom prst="ellipse">
            <a:avLst/>
          </a:prstGeom>
          <a:solidFill>
            <a:srgbClr val="63B3ED">
              <a:alpha val="15000"/>
            </a:srgbClr>
          </a:solidFill>
          <a:ln w="19050">
            <a:solidFill>
              <a:srgbClr val="63B3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23544"/>
            <a:ext cx="420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3B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25780" y="1316736"/>
            <a:ext cx="0" cy="329184"/>
          </a:xfrm>
          <a:prstGeom prst="line">
            <a:avLst/>
          </a:prstGeom>
          <a:noFill/>
          <a:ln w="12700">
            <a:solidFill>
              <a:srgbClr val="D1D5DB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914400" y="886968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12471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PyRadiomics → 88 quantitative radiomic features per CT image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645920"/>
            <a:ext cx="420624" cy="420624"/>
          </a:xfrm>
          <a:prstGeom prst="ellipse">
            <a:avLst/>
          </a:prstGeom>
          <a:solidFill>
            <a:srgbClr val="68D391">
              <a:alpha val="15000"/>
            </a:srgbClr>
          </a:solidFill>
          <a:ln w="19050">
            <a:solidFill>
              <a:srgbClr val="68D39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673352"/>
            <a:ext cx="420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8D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25780" y="2066544"/>
            <a:ext cx="0" cy="329184"/>
          </a:xfrm>
          <a:prstGeom prst="line">
            <a:avLst/>
          </a:prstGeom>
          <a:noFill/>
          <a:ln w="12700">
            <a:solidFill>
              <a:srgbClr val="D1D5DB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914400" y="1636776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187452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(zero mean, unit variance) + median imputation for missing values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395728"/>
            <a:ext cx="420624" cy="420624"/>
          </a:xfrm>
          <a:prstGeom prst="ellipse">
            <a:avLst/>
          </a:prstGeom>
          <a:solidFill>
            <a:srgbClr val="F6AD55">
              <a:alpha val="15000"/>
            </a:srgbClr>
          </a:solidFill>
          <a:ln w="19050">
            <a:solidFill>
              <a:srgbClr val="F6AD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423160"/>
            <a:ext cx="420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5780" y="2816352"/>
            <a:ext cx="0" cy="329184"/>
          </a:xfrm>
          <a:prstGeom prst="line">
            <a:avLst/>
          </a:prstGeom>
          <a:noFill/>
          <a:ln w="12700">
            <a:solidFill>
              <a:srgbClr val="D1D5DB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914400" y="2386584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262432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compresses 88 features → 1 discriminant component (fit on train only — no leakage)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145536"/>
            <a:ext cx="420624" cy="420624"/>
          </a:xfrm>
          <a:prstGeom prst="ellipse">
            <a:avLst/>
          </a:prstGeom>
          <a:solidFill>
            <a:srgbClr val="FC8181">
              <a:alpha val="15000"/>
            </a:srgbClr>
          </a:solidFill>
          <a:ln w="19050">
            <a:solidFill>
              <a:srgbClr val="FC81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172968"/>
            <a:ext cx="420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C8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25780" y="3566160"/>
            <a:ext cx="0" cy="329184"/>
          </a:xfrm>
          <a:prstGeom prst="line">
            <a:avLst/>
          </a:prstGeom>
          <a:noFill/>
          <a:ln w="12700">
            <a:solidFill>
              <a:srgbClr val="D1D5DB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914400" y="3136392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Model — SVM (RBF)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3374136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Max-margin classifier in 1D LDA space · tuned via nested GridSearchCV (C, gamma)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3895344"/>
            <a:ext cx="420624" cy="420624"/>
          </a:xfrm>
          <a:prstGeom prst="ellipse">
            <a:avLst/>
          </a:prstGeom>
          <a:solidFill>
            <a:srgbClr val="B794F4">
              <a:alpha val="15000"/>
            </a:srgbClr>
          </a:solidFill>
          <a:ln w="19050">
            <a:solidFill>
              <a:srgbClr val="B794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922776"/>
            <a:ext cx="4206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79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4400" y="38862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Explainer — Decision Tree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4400" y="4123944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 tree (max_depth=3) on same LDA space → human-readable clinical threshold rules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8874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CT-Based COVID-19 Diagnosis — ML Project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48874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4869180"/>
            <a:ext cx="841248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3B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3a.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22860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— PyRadiomics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828800" cy="411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686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CT image is converted into 88 numbers across 5 mathematical feature families.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2697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98448"/>
            <a:ext cx="64008" cy="1097280"/>
          </a:xfrm>
          <a:prstGeom prst="rect">
            <a:avLst/>
          </a:prstGeom>
          <a:solidFill>
            <a:srgbClr val="63B3ED"/>
          </a:solidFill>
          <a:ln w="12700">
            <a:solidFill>
              <a:srgbClr val="63B3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8988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Order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682496"/>
            <a:ext cx="24871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intensity statistics — mean brightness, variance, skewness, kurtosis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298448"/>
            <a:ext cx="2697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298448"/>
            <a:ext cx="64008" cy="1097280"/>
          </a:xfrm>
          <a:prstGeom prst="rect">
            <a:avLst/>
          </a:prstGeom>
          <a:solidFill>
            <a:srgbClr val="68D391"/>
          </a:solidFill>
          <a:ln w="12700">
            <a:solidFill>
              <a:srgbClr val="68D39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38988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GLCM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1682496"/>
            <a:ext cx="24871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 Level Co-occurrence Matrix — texture from pixel-pair angular relationships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1298448"/>
            <a:ext cx="2697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298448"/>
            <a:ext cx="64008" cy="1097280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38988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GLRLM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72200" y="1682496"/>
            <a:ext cx="24871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 Level Run Length Matrix — length of consecutive same-intensity runs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2532888"/>
            <a:ext cx="2697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532888"/>
            <a:ext cx="64008" cy="1097280"/>
          </a:xfrm>
          <a:prstGeom prst="rect">
            <a:avLst/>
          </a:prstGeom>
          <a:solidFill>
            <a:srgbClr val="FC8181"/>
          </a:solidFill>
          <a:ln w="12700">
            <a:solidFill>
              <a:srgbClr val="FC81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62432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GLSZM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2916936"/>
            <a:ext cx="24871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 Level Size Zone Matrix — size of uniform-intensity image regions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0" y="2532888"/>
            <a:ext cx="2697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2532888"/>
            <a:ext cx="64008" cy="1097280"/>
          </a:xfrm>
          <a:prstGeom prst="rect">
            <a:avLst/>
          </a:prstGeom>
          <a:solidFill>
            <a:srgbClr val="B794F4"/>
          </a:solidFill>
          <a:ln w="12700">
            <a:solidFill>
              <a:srgbClr val="B794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262432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GLDM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37560" y="2916936"/>
            <a:ext cx="24871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 Level Dependence Matrix — how dependent each pixel is on its neighbours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" y="44805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fix: 2D PNG images promoted to 3D using sitk.JoinSeries() — required by PyRadiomics which only accepts SimpleITK 3D volumes.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65760" y="48874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CT-Based COVID-19 Diagnosis — ML Project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0" y="48874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4869180"/>
            <a:ext cx="841248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3B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3b.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22860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— LDA · SVM · Decision Tree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828800" cy="411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22960"/>
            <a:ext cx="2788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22960"/>
            <a:ext cx="2788920" cy="64008"/>
          </a:xfrm>
          <a:prstGeom prst="rect">
            <a:avLst/>
          </a:prstGeom>
          <a:solidFill>
            <a:srgbClr val="63B3ED"/>
          </a:solidFill>
          <a:ln w="12700">
            <a:solidFill>
              <a:srgbClr val="63B3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3B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2514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1 direction in 88D feature space that maximally separates COVID vs Non-COVID. Binary classification → exactly 1 component possible (n_classes − 1). Fit inside Pipeline to prevent data leakage.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822960"/>
            <a:ext cx="2788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822960"/>
            <a:ext cx="2788920" cy="64008"/>
          </a:xfrm>
          <a:prstGeom prst="rect">
            <a:avLst/>
          </a:prstGeom>
          <a:solidFill>
            <a:srgbClr val="68D391"/>
          </a:solidFill>
          <a:ln w="12700">
            <a:solidFill>
              <a:srgbClr val="68D39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96012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(RBF)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83280" y="1325880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8D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CLASSIFIER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383280" y="1572768"/>
            <a:ext cx="2514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Maximum-margin boundary in the 1D LDA space. RBF kernel allows curved separators. Nested CV: 5-fold outer evaluation + 3-fold GridSearchCV inner tuning over C ∈ {0.1, 1, 10, 100} and gamma ∈ {scale, auto, 0.01, 0.001}.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72200" y="822960"/>
            <a:ext cx="2788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822960"/>
            <a:ext cx="2788920" cy="64008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96012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09360" y="1325880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EXPLAINER (MAX_DEPTH=3)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309360" y="1572768"/>
            <a:ext cx="2514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same LDA space. Produces threshold rules on the single LDA component — giving a clinical explanation for every prediction. Shallow depth is deliberate pruning to keep rules readable and avoid overfitting.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48874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CT-Based COVID-19 Diagnosis — ML Project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0" y="48874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4869180"/>
            <a:ext cx="841248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3B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68680" y="22860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Evaluation Metrics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828800" cy="411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22960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22960"/>
            <a:ext cx="1965960" cy="50292"/>
          </a:xfrm>
          <a:prstGeom prst="rect">
            <a:avLst/>
          </a:prstGeom>
          <a:solidFill>
            <a:srgbClr val="63B3ED"/>
          </a:solidFill>
          <a:ln w="12700">
            <a:solidFill>
              <a:srgbClr val="63B3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0.8807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316736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Mean AUC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517904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 0.0337 across 5 folds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822960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822960"/>
            <a:ext cx="1965960" cy="50292"/>
          </a:xfrm>
          <a:prstGeom prst="rect">
            <a:avLst/>
          </a:prstGeom>
          <a:solidFill>
            <a:srgbClr val="68D391"/>
          </a:solidFill>
          <a:ln w="12700">
            <a:solidFill>
              <a:srgbClr val="68D39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914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0.8482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468880" y="1316736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AUC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68880" y="1517904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unseen test samples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822960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822960"/>
            <a:ext cx="1965960" cy="50292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914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78.67%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72000" y="1316736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0" y="1517904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 / 150 correct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675120" y="822960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75120" y="822960"/>
            <a:ext cx="1965960" cy="50292"/>
          </a:xfrm>
          <a:prstGeom prst="rect">
            <a:avLst/>
          </a:prstGeom>
          <a:solidFill>
            <a:srgbClr val="B794F4"/>
          </a:solidFill>
          <a:ln w="12700">
            <a:solidFill>
              <a:srgbClr val="B794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914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0.032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675120" y="1316736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Generalisation Gap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75120" y="1517904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→ Holdout (healthy)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199339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Report (Holdout Test Set)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286000"/>
          <a:ext cx="4389120" cy="1280160"/>
        </p:xfrm>
        <a:graphic>
          <a:graphicData uri="http://schemas.openxmlformats.org/drawingml/2006/table">
            <a:tbl>
              <a:tblPr/>
              <a:tblGrid>
                <a:gridCol w="1280160"/>
                <a:gridCol w="777240"/>
                <a:gridCol w="777240"/>
                <a:gridCol w="777240"/>
                <a:gridCol w="7772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7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7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7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7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7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Non-COVID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8D3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8D3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Avg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" name="Text 24"/>
          <p:cNvSpPr/>
          <p:nvPr/>
        </p:nvSpPr>
        <p:spPr>
          <a:xfrm>
            <a:off x="5029200" y="19933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 Results</a:t>
            </a:r>
            <a:endParaRPr lang="en-US" sz="12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2286000"/>
          <a:ext cx="3749040" cy="1508760"/>
        </p:xfrm>
        <a:graphic>
          <a:graphicData uri="http://schemas.openxmlformats.org/drawingml/2006/table">
            <a:tbl>
              <a:tblPr/>
              <a:tblGrid>
                <a:gridCol w="548640"/>
                <a:gridCol w="914400"/>
                <a:gridCol w="822960"/>
                <a:gridCol w="1463040"/>
              </a:tblGrid>
              <a:tr h="2514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7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7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7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7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Gamma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8D3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0.8173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0.8778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8D3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9" name="Text 25"/>
          <p:cNvSpPr/>
          <p:nvPr/>
        </p:nvSpPr>
        <p:spPr>
          <a:xfrm>
            <a:off x="365760" y="48874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CT-Based COVID-19 Diagnosis — ML Project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8229600" y="48874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365760" y="4869180"/>
            <a:ext cx="841248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13232"/>
            <a:ext cx="1828800" cy="4114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0467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can be used for and where it fits best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115568"/>
            <a:ext cx="27432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115568"/>
            <a:ext cx="54864" cy="1261872"/>
          </a:xfrm>
          <a:prstGeom prst="rect">
            <a:avLst/>
          </a:prstGeom>
          <a:solidFill>
            <a:srgbClr val="63B3ED"/>
          </a:solidFill>
          <a:ln w="12700">
            <a:solidFill>
              <a:srgbClr val="63B3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20700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Decision Support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75488" y="1463040"/>
            <a:ext cx="256032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Assists radiologists by flagging borderline CT scans for priority review — the SVM+DT hybrid raises an alert when models disagree, prompting human oversight rather than replacing it.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19272" y="1115568"/>
            <a:ext cx="27432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9272" y="1115568"/>
            <a:ext cx="54864" cy="1261872"/>
          </a:xfrm>
          <a:prstGeom prst="rect">
            <a:avLst/>
          </a:prstGeom>
          <a:solidFill>
            <a:srgbClr val="68D391"/>
          </a:solidFill>
          <a:ln w="12700">
            <a:solidFill>
              <a:srgbClr val="68D39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47288" y="120700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Resource-Constrained Settings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447288" y="1463040"/>
            <a:ext cx="256032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on CPU with no GPU or deep learning stack. Ideal for rural hospitals, field clinics, or low-income healthcare settings where compute infrastructure is limited.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91072" y="1115568"/>
            <a:ext cx="27432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91072" y="1115568"/>
            <a:ext cx="54864" cy="1261872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9088" y="120700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Pandemic Triage Systems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19088" y="1463040"/>
            <a:ext cx="256032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outbreak surges, the pipeline can pre-screen large CT scan backlogs quickly, routing likely positive cases to urgent care queues and reducing bottlenecks.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47472" y="2487168"/>
            <a:ext cx="27432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7472" y="2487168"/>
            <a:ext cx="54864" cy="1261872"/>
          </a:xfrm>
          <a:prstGeom prst="rect">
            <a:avLst/>
          </a:prstGeom>
          <a:solidFill>
            <a:srgbClr val="FC8181"/>
          </a:solidFill>
          <a:ln w="12700">
            <a:solidFill>
              <a:srgbClr val="FC81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257860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in Radiology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5488" y="2834640"/>
            <a:ext cx="256032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Tree layer produces threshold rules a clinician can audit and trust. Suitable for regulatory environments (e.g. FDA, CE-mark) where black-box predictions are not accepted.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19272" y="2487168"/>
            <a:ext cx="27432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19272" y="2487168"/>
            <a:ext cx="54864" cy="1261872"/>
          </a:xfrm>
          <a:prstGeom prst="rect">
            <a:avLst/>
          </a:prstGeom>
          <a:solidFill>
            <a:srgbClr val="B794F4"/>
          </a:solidFill>
          <a:ln w="12700">
            <a:solidFill>
              <a:srgbClr val="B794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47288" y="257860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Education &amp; Research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447288" y="2834640"/>
            <a:ext cx="256032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radiomic feature pipeline and interpretable rules make it a strong teaching tool for demonstrating classical ML on real medical imaging data without deep learning overhead.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91072" y="2487168"/>
            <a:ext cx="27432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91072" y="2487168"/>
            <a:ext cx="54864" cy="12618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19088" y="257860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Screening Tool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19088" y="2834640"/>
            <a:ext cx="256032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Packaged as a lightweight script, it can run on a laptop at point-of-care. Best suited as a second-opinion tool alongside standard RT-PCR testing protocols.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5760" y="488746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CT-Based COVID-19 Diagnosis — ML Project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48874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4869180"/>
            <a:ext cx="841248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CT-Based COVID-19 Diagnosis — ML Project</dc:title>
  <dc:subject>PptxGenJS Presentation</dc:subject>
  <dc:creator>PptxGenJS</dc:creator>
  <cp:lastModifiedBy>PptxGenJS</cp:lastModifiedBy>
  <cp:revision>1</cp:revision>
  <dcterms:created xsi:type="dcterms:W3CDTF">2026-04-19T17:05:41Z</dcterms:created>
  <dcterms:modified xsi:type="dcterms:W3CDTF">2026-04-19T17:05:41Z</dcterms:modified>
</cp:coreProperties>
</file>